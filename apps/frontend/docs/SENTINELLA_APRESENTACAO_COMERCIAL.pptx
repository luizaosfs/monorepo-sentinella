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12188952" cy="2377440"/>
          </a:xfrm>
          <a:prstGeom prst="roundRect">
            <a:avLst/>
          </a:prstGeom>
          <a:solidFill>
            <a:srgbClr val="0F2460"/>
          </a:solidFill>
          <a:ln w="12700">
            <a:solidFill>
              <a:srgbClr val="0F2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F2460">
              <a:alpha val="50000"/>
            </a:srgbClr>
          </a:solidFill>
          <a:ln w="12700">
            <a:solidFill>
              <a:srgbClr val="0F2460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640080"/>
            <a:ext cx="2130552" cy="43891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658368"/>
            <a:ext cx="2130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MUNICIPIO INTELIGENTE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spc="500" kern="0" dirty="0">
                <a:solidFill>
                  <a:srgbClr val="FFFFFF"/>
                </a:solidFill>
              </a:rPr>
              <a:t>sentinella</a:t>
            </a:r>
            <a:endParaRPr lang="en-US" sz="6200" dirty="0"/>
          </a:p>
        </p:txBody>
      </p:sp>
      <p:sp>
        <p:nvSpPr>
          <p:cNvPr id="9" name="Shape 7"/>
          <p:cNvSpPr/>
          <p:nvPr/>
        </p:nvSpPr>
        <p:spPr>
          <a:xfrm>
            <a:off x="4114800" y="2834640"/>
            <a:ext cx="3959352" cy="36576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FD4F8"/>
                </a:solidFill>
              </a:rPr>
              <a:t>Sistema Inteligente de Combate a Dengue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3657600"/>
            <a:ext cx="94457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3B4E8"/>
                </a:solidFill>
              </a:rPr>
              <a:t>Gestao operacional  |  Mapa em tempo real  |  Canal do cidadao  |  Integracao com saude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0" y="63093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EC2"/>
                </a:solidFill>
              </a:rPr>
              <a:t>Apresentacao Comercial  |  Confidencial  | 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 Problema que as Prefeituras Enfrentam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143000"/>
            <a:ext cx="36576" cy="1828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" y="1271016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Sem controle de imoveis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56616" y="169164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Milhares de residencias sem registro digital. Fichas de papel se perdem ou ficam desatualizadas.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33672" y="11430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33672" y="1143000"/>
            <a:ext cx="36576" cy="1828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271016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Sem visibilidade em tempo real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361688" y="169164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 supervisor nao sabe o que acontece em campo enquanto os agentes trabalham.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38744" y="114300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38744" y="1143000"/>
            <a:ext cx="36576" cy="1828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271016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Sem indicadores de resultado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366760" y="169164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Impossivel saber se a operacao esta funcionando ou onde estao concentrados os focos.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3227832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227832"/>
            <a:ext cx="36576" cy="1828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" y="335584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Produtividade sem controle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6616" y="3776472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Sem dados de visitas por agente. Dificil identificar quem precisa de suporte.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233672" y="3227832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33672" y="3227832"/>
            <a:ext cx="36576" cy="1828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61688" y="335584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Denuncias sem gestao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61688" y="3776472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Cidadao liga, alguem anota em papel, ninguem acompanha o que foi resolvido.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38744" y="3227832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38744" y="3227832"/>
            <a:ext cx="36576" cy="1828800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335584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91C1C"/>
                </a:solidFill>
              </a:rPr>
              <a:t>Saude e campo desconectados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66760" y="3776472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Casos notificados na UBS nao chegam para a equipe de combate em campo.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6172200"/>
            <a:ext cx="12188952" cy="6858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236208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O Brasil registra mais de 3 milhoes de casos de dengue por ano. A resposta comeca no municipio.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Sentinella - Uma Plataforma Completa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1572768" cy="29260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8872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App do Agente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2176272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Roteiro diario, vistoria digital e funcionamento offline em campo.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01952" y="1188720"/>
            <a:ext cx="1572768" cy="29260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1952" y="118872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417320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Mapa em Tempo Real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93392" y="2176272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Focos ativos, agentes em campo e heatmap de risco por regiao.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547872" y="1188720"/>
            <a:ext cx="1572768" cy="29260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7872" y="118872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1417320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Canal do Cidadao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39312" y="2176272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Denuncia via link ou QR Code. Protocolo automatico. Sem telefonema.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93792" y="1188720"/>
            <a:ext cx="1572768" cy="29260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3792" y="118872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417320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Relatorios Automaticos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85232" y="2176272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PDF semanal gerado pelo sistema com indicadores e ranking.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39712" y="1188720"/>
            <a:ext cx="1572768" cy="29260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39712" y="118872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417320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Controle de SLA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31152" y="2176272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Prazos por prioridade. Alerta automatico quando o prazo vence.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8485632" y="1188720"/>
            <a:ext cx="1572768" cy="29260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5632" y="118872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49640" y="1417320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Integracao com Saude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77072" y="2176272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Casos notificados na UBS cruzados com focos do campo em 300m.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0131552" y="1188720"/>
            <a:ext cx="1572768" cy="2926080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31552" y="1188720"/>
            <a:ext cx="1572768" cy="347472"/>
          </a:xfrm>
          <a:prstGeom prst="roundRect">
            <a:avLst>
              <a:gd name="adj" fmla="val 26316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95560" y="1417320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</a:rPr>
              <a:t>Drone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22992" y="2176272"/>
            <a:ext cx="1389888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Voo sobre imoveis inacessiveis. IA identifica focos nas imagens.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425196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976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+300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457200" y="4919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vistorias/dia possiveis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97680" y="425196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0" y="42976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&lt;2h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4297680" y="4919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resposta a focos criticos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251960"/>
            <a:ext cx="3474720" cy="109728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38160" y="42976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100%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8138160" y="49194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rastreavel e auditavel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28600" y="5559552"/>
            <a:ext cx="11731752" cy="530352"/>
          </a:xfrm>
          <a:prstGeom prst="roundRect">
            <a:avLst>
              <a:gd name="adj" fmla="val 31034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8600" y="5577840"/>
            <a:ext cx="1173175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</a:rPr>
              <a:t>Tudo integrado em uma unica plataforma - sem papelada, sem planilha separada, sem WhatsApp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0" cy="68580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Aplicativo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do Agente de Campo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4F8"/>
                </a:solidFill>
              </a:rPr>
              <a:t>Desenvolvido para uso em campo, em qualquer celular, com ou sem internet.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" y="27432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+  Roteiro diario organizado por prioridade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" y="338328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+  Vistoria completa: depositos, tratamento, riscos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2880" y="40233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+  Funcionamento 100% offline em campo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" y="466344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+  Sincronizacao automatica ao reconectar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82880" y="530352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+  Registro de imoveis fechados e tentativas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2880" y="594360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+  Alerta automatico ao 3o acesso negado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594360"/>
            <a:ext cx="3703320" cy="2606040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594360"/>
            <a:ext cx="370332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667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</a:rPr>
              <a:t>Roteiro do Dia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26280" y="116128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Lista de imoveis por prioridade, cor e situacao (pendente, revisita, visitado).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21031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245059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[Captura de tela: Roteiro do Dia]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47888" y="594360"/>
            <a:ext cx="3703320" cy="2606040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47888" y="594360"/>
            <a:ext cx="370332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85048" y="6675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</a:rPr>
              <a:t>Vistoria Digital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85048" y="116128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7 tipos de deposito PNCD. Registro de focos, tratamento e larvicida aplicado.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385048" y="210312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245059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[Captura de tela: Vistoria Digital]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89120" y="3429000"/>
            <a:ext cx="3703320" cy="2606040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89120" y="3429000"/>
            <a:ext cx="370332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3502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</a:rPr>
              <a:t>Modo Offline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26280" y="399592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Sem internet? Sem problema. O app salva tudo e envia quando reconectar.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493776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52852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[Captura de tela: Modo Offline]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8247888" y="3429000"/>
            <a:ext cx="3703320" cy="2606040"/>
          </a:xfrm>
          <a:prstGeom prst="roundRect">
            <a:avLst>
              <a:gd name="adj" fmla="val 350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47888" y="3429000"/>
            <a:ext cx="3703320" cy="45720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85048" y="350215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</a:rPr>
              <a:t>Imovel Fechado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85048" y="3995928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Registra tentativa, motivo e horario de retorno. 3a tentativa aciona drone.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85048" y="493776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528523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[Captura de tela: Imovel Fechado]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Painel do Gestor - Controle Total da Operacao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11556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C2626"/>
                </a:solidFill>
              </a:rPr>
              <a:t>127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73736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Focos Ativos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8688" y="10972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111556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803D"/>
                </a:solidFill>
              </a:rPr>
              <a:t>94%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18688" y="173736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5803D"/>
                </a:solidFill>
              </a:rPr>
              <a:t>SLA no Prazo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08776" y="10972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111556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8A"/>
                </a:solidFill>
              </a:rPr>
              <a:t>38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08776" y="173736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3A8A"/>
                </a:solidFill>
              </a:rPr>
              <a:t>Agentes Hoje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98864" y="10972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98864" y="111556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2400E"/>
                </a:solidFill>
              </a:rPr>
              <a:t>212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98864" y="173736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2400E"/>
                </a:solidFill>
              </a:rPr>
              <a:t>Denuncias/mes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" y="2286000"/>
            <a:ext cx="6858000" cy="4206240"/>
          </a:xfrm>
          <a:prstGeom prst="roundRect">
            <a:avLst>
              <a:gd name="adj" fmla="val 2174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286000"/>
            <a:ext cx="6858000" cy="384048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40864"/>
            <a:ext cx="6675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Mapa de Focos em Tempo Real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[Mapa interativo com pontos de focos, heatmap de risco e posicao dos agentes em campo]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60920" y="2286000"/>
            <a:ext cx="4617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2377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Produtividade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98080" y="2743200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Vistorias por agente, cobertura por bairro e comparativo entre ciclos.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60920" y="3346704"/>
            <a:ext cx="4617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343814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Controle de SLA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0" y="3803904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Alertas automaticos. Escala para supervisor quando prazo vence.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60920" y="4407408"/>
            <a:ext cx="4617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449884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Score de Risco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4864608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Score 0-100 por imovel. Classifica critico, alto, medio e baixo.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360920" y="5468112"/>
            <a:ext cx="46177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55595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Relatorios PDF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98080" y="5925312"/>
            <a:ext cx="4297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Gerado com um clique. Enviado automaticamente toda segunda-feira.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Canal do Cidadao - Denuncia em 3 Toques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280160" y="1115568"/>
            <a:ext cx="1097280" cy="10972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1887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60604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Cidadao fotografa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o problema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54680" y="320040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-&gt;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60520" y="1115568"/>
            <a:ext cx="1097280" cy="10972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1887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3337560" y="242316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47288" y="260604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Localizacao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automatica no mapa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320040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-&gt;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040880" y="1115568"/>
            <a:ext cx="1097280" cy="10972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0" y="11887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217920" y="242316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260604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Protocolo gerado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instantaneamente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915400" y="3200400"/>
            <a:ext cx="2560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-&gt;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921240" y="1115568"/>
            <a:ext cx="1097280" cy="109728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11887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098280" y="242316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8008" y="2606040"/>
            <a:ext cx="243230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Equipe de campo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acionada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4800600"/>
            <a:ext cx="11731752" cy="1737360"/>
          </a:xfrm>
          <a:prstGeom prst="roundRect">
            <a:avLst>
              <a:gd name="adj" fmla="val 6316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64608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 a prefeitura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532180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4F8"/>
                </a:solidFill>
              </a:rPr>
              <a:t>Sem ligacoes perdidas  |  Foto e localizacao registradas  |  Protocolo para o cidadao  |  Historico auditavel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5870448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DCFCE7"/>
                </a:solidFill>
              </a:rPr>
              <a:t>Funciona por QR Code ou link - o cidadao nao precisa baixar nenhum aplicativo.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18120" y="0"/>
            <a:ext cx="4370832" cy="685800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011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Relatorios - Do Campo para a Decisao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Relatorio semanal automatico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7086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Gerado toda segunda-feira e enviado por e-mail. KPIs, focos e evolucao semanal.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2011680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84832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Mapa de calor por periodo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432304"/>
            <a:ext cx="7086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Visualize como os focos evoluiram semana a semana na regiao.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907792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80944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Ranking de agentes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328416"/>
            <a:ext cx="7086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Vistorias realizadas, focos encontrados e eficacia de tratamento por agente.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3803904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877056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Indice LIRAa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224528"/>
            <a:ext cx="7086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Indice de infestacao por Aedes aegypti por quarteirao e ciclo operacional.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4700016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773168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Eficacia do larvicida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5120640"/>
            <a:ext cx="7086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Percentual de focos eliminados com e sem larvicida por tipo de deposito.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28600" y="5596128"/>
            <a:ext cx="74066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5669280"/>
            <a:ext cx="7086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Casos x Focos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6016752"/>
            <a:ext cx="7086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Cruzamento de casos notificados pela saude com focos identificados em campo.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09560" y="10515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Para onde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vao os dados?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936992" y="20116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1A4B9C"/>
          </a:solidFill>
          <a:ln w="12700">
            <a:solidFill>
              <a:srgbClr val="1A4B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10144" y="251460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Secretaria de Saude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058400" y="201168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1A4B9C"/>
          </a:solidFill>
          <a:ln w="12700">
            <a:solidFill>
              <a:srgbClr val="1A4B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31552" y="251460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Relatorio de Gestao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36992" y="397764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1A4B9C"/>
          </a:solidFill>
          <a:ln w="12700">
            <a:solidFill>
              <a:srgbClr val="1A4B9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10144" y="448056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Camara Municipal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058400" y="3977640"/>
            <a:ext cx="1920240" cy="1691640"/>
          </a:xfrm>
          <a:prstGeom prst="roundRect">
            <a:avLst>
              <a:gd name="adj" fmla="val 5405"/>
            </a:avLst>
          </a:prstGeom>
          <a:solidFill>
            <a:srgbClr val="1A4B9C"/>
          </a:solidFill>
          <a:ln w="12700">
            <a:solidFill>
              <a:srgbClr val="1A4B9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31552" y="4480560"/>
            <a:ext cx="17739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Ministerio da Saude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63840" y="61447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FD4F8"/>
                </a:solidFill>
              </a:rPr>
              <a:t>Exportacao em PDF, CSV e Excel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Beneficios para a Prefeitura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3639312" cy="2377440"/>
          </a:xfrm>
          <a:prstGeom prst="roundRect">
            <a:avLst>
              <a:gd name="adj" fmla="val 461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280160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Mais Controle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" y="1783080"/>
            <a:ext cx="33649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Sabe exatamente quantos imoveis foram visitados, quais tem foco e o status de cada um.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3995928" y="1097280"/>
            <a:ext cx="3639312" cy="237744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33088" y="1280160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Mais Produtividade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33088" y="1783080"/>
            <a:ext cx="33649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Agentes com roteiro digital produzem ate 40% mais visitas por dia do que com fichas de papel.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7790688" y="1097280"/>
            <a:ext cx="3639312" cy="2377440"/>
          </a:xfrm>
          <a:prstGeom prst="roundRect">
            <a:avLst>
              <a:gd name="adj" fmla="val 4615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7848" y="1280160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Reducao de Focos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27848" y="1783080"/>
            <a:ext cx="33649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Resposta rapida, rastreamento de reincidencias e priorizacao de areas criticas reduzem os focos.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201168" y="3630168"/>
            <a:ext cx="3639312" cy="2377440"/>
          </a:xfrm>
          <a:prstGeom prst="roundRect">
            <a:avLst>
              <a:gd name="adj" fmla="val 4615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3813048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Resposta ao Cidadao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" y="4315968"/>
            <a:ext cx="33649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Canal digital registra, protocola e acompanha cada denuncia. Gestao profissional do relacionamento.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3995928" y="3630168"/>
            <a:ext cx="3639312" cy="2377440"/>
          </a:xfrm>
          <a:prstGeom prst="roundRect">
            <a:avLst>
              <a:gd name="adj" fmla="val 461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813048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Tomada de Decisao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33088" y="4315968"/>
            <a:ext cx="33649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Dados reais substituem achismos. Planeje com base em indices, focos confirmados e historico.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790688" y="3630168"/>
            <a:ext cx="3639312" cy="2377440"/>
          </a:xfrm>
          <a:prstGeom prst="roundRect">
            <a:avLst>
              <a:gd name="adj" fmla="val 461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27848" y="3813048"/>
            <a:ext cx="33649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8A"/>
                </a:solidFill>
              </a:rPr>
              <a:t>Compliance e Auditoria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27848" y="4315968"/>
            <a:ext cx="336499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Historico completo de cada vistoria, agente e acao. Prestacao de contas transparente.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0584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Como Funciona a Implantacao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0120" y="1078992"/>
            <a:ext cx="1280160" cy="1280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1430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999232" y="1673352"/>
            <a:ext cx="219456" cy="3657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2542032"/>
            <a:ext cx="2788920" cy="36576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2542032"/>
            <a:ext cx="2788920" cy="402336"/>
          </a:xfrm>
          <a:prstGeom prst="roundRect">
            <a:avLst>
              <a:gd name="adj" fmla="val 2272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59689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Preparacao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017520"/>
            <a:ext cx="2606040" cy="27432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035808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8A"/>
                </a:solidFill>
              </a:rPr>
              <a:t>1-2 semanas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" y="341985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Cadastro da prefeitura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" y="405993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Importacao da base de imoveis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6616" y="470001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Configuracao de bairros e regioes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56616" y="534009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Criacao dos usuarios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950208" y="1078992"/>
            <a:ext cx="1280160" cy="1280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0208" y="11430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02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989320" y="1673352"/>
            <a:ext cx="219456" cy="3657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8688" y="2542032"/>
            <a:ext cx="2788920" cy="36576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18688" y="2542032"/>
            <a:ext cx="2788920" cy="402336"/>
          </a:xfrm>
          <a:prstGeom prst="roundRect">
            <a:avLst>
              <a:gd name="adj" fmla="val 2272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59689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Treinamento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10128" y="3017520"/>
            <a:ext cx="2606040" cy="27432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10128" y="3035808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8A"/>
                </a:solidFill>
              </a:rPr>
              <a:t>1 dia presencial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46704" y="341985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Supervisores (manha)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46704" y="405993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Agentes de campo (tarde)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46704" y="470001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Notificadores de saude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46704" y="534009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Material de apoio entregue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940296" y="1078992"/>
            <a:ext cx="1280160" cy="1280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0296" y="11430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03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8979408" y="1673352"/>
            <a:ext cx="219456" cy="3657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08776" y="2542032"/>
            <a:ext cx="2788920" cy="36576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08776" y="2542032"/>
            <a:ext cx="2788920" cy="402336"/>
          </a:xfrm>
          <a:prstGeom prst="roundRect">
            <a:avLst>
              <a:gd name="adj" fmla="val 2272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0216" y="259689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Piloto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00216" y="3017520"/>
            <a:ext cx="2606040" cy="27432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0216" y="3035808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8A"/>
                </a:solidFill>
              </a:rPr>
              <a:t>2-4 semanas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336792" y="341985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Operacao em 1 bairro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36792" y="405993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Supervisao proxima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336792" y="470001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Ajustes de configuracao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36792" y="534009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Validacao com o gestor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930384" y="1078992"/>
            <a:ext cx="1280160" cy="128016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30384" y="11430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04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9198864" y="2542032"/>
            <a:ext cx="2788920" cy="365760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98864" y="2542032"/>
            <a:ext cx="2788920" cy="402336"/>
          </a:xfrm>
          <a:prstGeom prst="roundRect">
            <a:avLst>
              <a:gd name="adj" fmla="val 22727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90304" y="259689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Operacao Plena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9290304" y="3017520"/>
            <a:ext cx="2606040" cy="27432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290304" y="3035808"/>
            <a:ext cx="2606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8A"/>
                </a:solidFill>
              </a:rPr>
              <a:t>A partir da 5a semana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326880" y="341985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Expansao para o municipio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326880" y="405993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Relatorios semanais automaticos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326880" y="470001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Suporte dedicado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326880" y="5340096"/>
            <a:ext cx="25786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+ Evolucao continua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" y="6291072"/>
            <a:ext cx="11731752" cy="402336"/>
          </a:xfrm>
          <a:prstGeom prst="roundRect">
            <a:avLst>
              <a:gd name="adj" fmla="val 4090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" y="6309360"/>
            <a:ext cx="1173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Suporte incluso  |  Treinamento incluso  |  Sem necessidade de infraestrutura local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12188952" cy="2103120"/>
          </a:xfrm>
          <a:prstGeom prst="roundRect">
            <a:avLst/>
          </a:prstGeom>
          <a:solidFill>
            <a:srgbClr val="0F2460"/>
          </a:solidFill>
          <a:ln w="12700">
            <a:solidFill>
              <a:srgbClr val="0F2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-914400"/>
            <a:ext cx="6400800" cy="6400800"/>
          </a:xfrm>
          <a:prstGeom prst="ellipse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4008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B4E8"/>
                </a:solidFill>
              </a:rPr>
              <a:t>Pronto para comecar?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234440"/>
            <a:ext cx="10360152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spc="500" kern="0" dirty="0">
                <a:solidFill>
                  <a:srgbClr val="FFFFFF"/>
                </a:solidFill>
              </a:rPr>
              <a:t>sentinella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4114800" y="2542032"/>
            <a:ext cx="3959352" cy="36576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97480"/>
            <a:ext cx="103601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4F8"/>
                </a:solidFill>
              </a:rPr>
              <a:t>Entre em contato e solicite uma demonstracao gratuita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3456432"/>
            <a:ext cx="2743200" cy="914400"/>
          </a:xfrm>
          <a:prstGeom prst="roundRect">
            <a:avLst>
              <a:gd name="adj" fmla="val 14000"/>
            </a:avLst>
          </a:prstGeom>
          <a:solidFill>
            <a:srgbClr val="1A4B9C"/>
          </a:solidFill>
          <a:ln w="12700">
            <a:solidFill>
              <a:srgbClr val="1A4B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4F8"/>
                </a:solidFill>
              </a:rPr>
              <a:t>www.sentinella.app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3456432"/>
            <a:ext cx="2743200" cy="914400"/>
          </a:xfrm>
          <a:prstGeom prst="roundRect">
            <a:avLst>
              <a:gd name="adj" fmla="val 14000"/>
            </a:avLst>
          </a:prstGeom>
          <a:solidFill>
            <a:srgbClr val="1A4B9C"/>
          </a:solidFill>
          <a:ln w="12700">
            <a:solidFill>
              <a:srgbClr val="1A4B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4F8"/>
                </a:solidFill>
              </a:rPr>
              <a:t>comercial@sentinella.app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3456432"/>
            <a:ext cx="2743200" cy="914400"/>
          </a:xfrm>
          <a:prstGeom prst="roundRect">
            <a:avLst>
              <a:gd name="adj" fmla="val 14000"/>
            </a:avLst>
          </a:prstGeom>
          <a:solidFill>
            <a:srgbClr val="1A4B9C"/>
          </a:solidFill>
          <a:ln w="12700">
            <a:solidFill>
              <a:srgbClr val="1A4B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4F8"/>
                </a:solidFill>
              </a:rPr>
              <a:t>(XX) XXXXX-XXXX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07424" y="3456432"/>
            <a:ext cx="2743200" cy="914400"/>
          </a:xfrm>
          <a:prstGeom prst="roundRect">
            <a:avLst>
              <a:gd name="adj" fmla="val 14000"/>
            </a:avLst>
          </a:prstGeom>
          <a:solidFill>
            <a:srgbClr val="1A4B9C"/>
          </a:solidFill>
          <a:ln w="12700">
            <a:solidFill>
              <a:srgbClr val="1A4B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98864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D4F8"/>
                </a:solidFill>
              </a:rPr>
              <a:t>Sao Paulo  |  SP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4846320"/>
            <a:ext cx="1036015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3B4E8"/>
                </a:solidFill>
              </a:rPr>
              <a:t>Mostramos o sistema funcionando com os dados reais do seu municipio, sem compromisso.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6473952"/>
            <a:ext cx="12188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B6EA8"/>
                </a:solidFill>
              </a:rPr>
              <a:t>Sentinella  |  Sistema Inteligente de Combate a Dengue  |  Confidencial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2026-04-02T14:56:20Z</dcterms:created>
  <dcterms:modified xsi:type="dcterms:W3CDTF">2026-04-02T14:56:20Z</dcterms:modified>
</cp:coreProperties>
</file>